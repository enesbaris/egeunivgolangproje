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AF2146B-3AF4-7C1D-F220-00ED60D985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/>
              <a:t>Golang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9C0B0F1-28C8-C1B9-594B-55FEA52F49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tr-TR"/>
              <a:t>HAZIRLAYANLAR:</a:t>
            </a:r>
            <a:endParaRPr lang="tr-TR" dirty="0"/>
          </a:p>
          <a:p>
            <a:r>
              <a:rPr lang="tr-TR" dirty="0"/>
              <a:t>MUHAMMED ENES BARIŞ-90240000502</a:t>
            </a:r>
          </a:p>
          <a:p>
            <a:r>
              <a:rPr lang="tr-TR" dirty="0"/>
              <a:t>RONİ KILIÇ -90240000243</a:t>
            </a:r>
          </a:p>
        </p:txBody>
      </p:sp>
    </p:spTree>
    <p:extLst>
      <p:ext uri="{BB962C8B-B14F-4D97-AF65-F5344CB8AC3E}">
        <p14:creationId xmlns:p14="http://schemas.microsoft.com/office/powerpoint/2010/main" val="2161045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1426B7B-931F-9861-E77C-5B3201D01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415029"/>
            <a:ext cx="4486656" cy="578030"/>
          </a:xfrm>
        </p:spPr>
        <p:txBody>
          <a:bodyPr>
            <a:normAutofit fontScale="90000"/>
          </a:bodyPr>
          <a:lstStyle/>
          <a:p>
            <a:r>
              <a:rPr lang="tr-TR" dirty="0"/>
              <a:t>GOLANG NEDİR?</a:t>
            </a:r>
          </a:p>
        </p:txBody>
      </p:sp>
      <p:pic>
        <p:nvPicPr>
          <p:cNvPr id="6" name="İçerik Yer Tutucusu 5" descr="metin, ekran görüntüsü, çizgi film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FC52C7E-06C3-4558-50A9-5B2516A2B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0293" y="911942"/>
            <a:ext cx="5190766" cy="5034116"/>
          </a:xfrm>
        </p:spPr>
      </p:pic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745FC13-483C-F48F-090F-9A58504B4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9621" y="1053552"/>
            <a:ext cx="4486655" cy="4750895"/>
          </a:xfrm>
        </p:spPr>
        <p:txBody>
          <a:bodyPr/>
          <a:lstStyle/>
          <a:p>
            <a:endParaRPr lang="tr-TR" b="1" dirty="0"/>
          </a:p>
          <a:p>
            <a:r>
              <a:rPr lang="tr-TR" b="1" dirty="0" err="1">
                <a:solidFill>
                  <a:schemeClr val="tx1"/>
                </a:solidFill>
              </a:rPr>
              <a:t>Go</a:t>
            </a:r>
            <a:r>
              <a:rPr lang="tr-TR" dirty="0"/>
              <a:t> veya yaygın adıyla </a:t>
            </a:r>
            <a:r>
              <a:rPr lang="tr-TR" b="1" dirty="0" err="1">
                <a:solidFill>
                  <a:schemeClr val="tx1"/>
                </a:solidFill>
              </a:rPr>
              <a:t>Golang</a:t>
            </a:r>
            <a:r>
              <a:rPr lang="tr-TR" b="1" dirty="0"/>
              <a:t>,</a:t>
            </a:r>
            <a:r>
              <a:rPr lang="tr-TR" dirty="0"/>
              <a:t> 2007 yılında Google mühendisleri (Robert </a:t>
            </a:r>
            <a:r>
              <a:rPr lang="tr-TR" dirty="0" err="1"/>
              <a:t>Griesemer</a:t>
            </a:r>
            <a:r>
              <a:rPr lang="tr-TR" dirty="0"/>
              <a:t>, Rob Pike ve </a:t>
            </a:r>
            <a:r>
              <a:rPr lang="tr-TR" dirty="0" err="1"/>
              <a:t>Ken</a:t>
            </a:r>
            <a:r>
              <a:rPr lang="tr-TR" dirty="0"/>
              <a:t> Thompson) tarafından geliştirilmeye başlanan ve 2009 yılında açık kaynaklı hale getirilen modern bir programlama dilidir.</a:t>
            </a:r>
          </a:p>
          <a:p>
            <a:r>
              <a:rPr lang="tr-TR" dirty="0"/>
              <a:t>Karmaşık yazılım sistemlerini daha basit, güvenilir ve verimli bir şekilde inşa etmek amacıyla tasarlanmıştır.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9405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9BBC0B5-7E54-1CA0-39F2-BAEE67C61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79286"/>
            <a:ext cx="8991600" cy="602262"/>
          </a:xfrm>
        </p:spPr>
        <p:txBody>
          <a:bodyPr>
            <a:normAutofit fontScale="90000"/>
          </a:bodyPr>
          <a:lstStyle/>
          <a:p>
            <a:r>
              <a:rPr lang="tr-TR" dirty="0"/>
              <a:t>NEDEN GOLANG KULLANALIM ?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31AB4F9-92CA-5523-B7EE-18DAC717C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199" y="1406013"/>
            <a:ext cx="8991601" cy="4670322"/>
          </a:xfrm>
        </p:spPr>
        <p:txBody>
          <a:bodyPr/>
          <a:lstStyle/>
          <a:p>
            <a:pPr algn="l"/>
            <a:r>
              <a:rPr lang="tr-TR" dirty="0" err="1"/>
              <a:t>Go</a:t>
            </a:r>
            <a:r>
              <a:rPr lang="tr-TR" dirty="0"/>
              <a:t>, farklı dillerin en iyi özelliklerini bir araya getirmeyi hedefler:</a:t>
            </a:r>
          </a:p>
          <a:p>
            <a:pPr algn="l"/>
            <a:r>
              <a:rPr lang="tr-TR" b="1" dirty="0">
                <a:solidFill>
                  <a:schemeClr val="bg1"/>
                </a:solidFill>
              </a:rPr>
              <a:t>Hız ve Performans: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/>
              <a:t>Derlenen (</a:t>
            </a:r>
            <a:r>
              <a:rPr lang="tr-TR" dirty="0" err="1"/>
              <a:t>compiled</a:t>
            </a:r>
            <a:r>
              <a:rPr lang="tr-TR" dirty="0"/>
              <a:t>) bir dil olduğu için makine koduna doğrudan dönüşür. Bu da C++ veya Java’ya yakın bir performans sunmasını sağlar.</a:t>
            </a:r>
          </a:p>
          <a:p>
            <a:pPr algn="l"/>
            <a:r>
              <a:rPr lang="tr-TR" b="1" dirty="0">
                <a:solidFill>
                  <a:schemeClr val="bg1"/>
                </a:solidFill>
              </a:rPr>
              <a:t>Sadelik: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/>
              <a:t>Go'nun</a:t>
            </a:r>
            <a:r>
              <a:rPr lang="tr-TR" dirty="0"/>
              <a:t> sözdizimi (</a:t>
            </a:r>
            <a:r>
              <a:rPr lang="tr-TR" dirty="0" err="1"/>
              <a:t>syntax</a:t>
            </a:r>
            <a:r>
              <a:rPr lang="tr-TR" dirty="0"/>
              <a:t>) oldukça temizdir. Gereksiz karmaşıklıktan kaçınır; öğrenmesi ve okunması çok kolaydır.</a:t>
            </a:r>
          </a:p>
          <a:p>
            <a:pPr algn="l"/>
            <a:r>
              <a:rPr lang="tr-TR" b="1" dirty="0">
                <a:solidFill>
                  <a:schemeClr val="bg1"/>
                </a:solidFill>
              </a:rPr>
              <a:t>Eşzamanlılık (</a:t>
            </a:r>
            <a:r>
              <a:rPr lang="tr-TR" b="1" dirty="0" err="1">
                <a:solidFill>
                  <a:schemeClr val="bg1"/>
                </a:solidFill>
              </a:rPr>
              <a:t>Concurrency</a:t>
            </a:r>
            <a:r>
              <a:rPr lang="tr-TR" b="1" dirty="0">
                <a:solidFill>
                  <a:schemeClr val="bg1"/>
                </a:solidFill>
              </a:rPr>
              <a:t>):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/>
              <a:t>Go’nun</a:t>
            </a:r>
            <a:r>
              <a:rPr lang="tr-TR" dirty="0"/>
              <a:t> en güçlü yanıdır. </a:t>
            </a:r>
            <a:r>
              <a:rPr lang="tr-TR" b="1" dirty="0" err="1"/>
              <a:t>Goroutine</a:t>
            </a:r>
            <a:r>
              <a:rPr lang="tr-TR" dirty="0"/>
              <a:t> adı verilen yapılar sayesinde binlerce işlemi aynı anda, sistemi yormadan gerçekleştirebilir.</a:t>
            </a:r>
          </a:p>
          <a:p>
            <a:pPr algn="l"/>
            <a:r>
              <a:rPr lang="tr-TR" b="1" dirty="0">
                <a:solidFill>
                  <a:schemeClr val="bg1"/>
                </a:solidFill>
              </a:rPr>
              <a:t>Statik Tipli ve Güvenli: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/>
              <a:t>Değişken türleri derleme aşamasında kontrol edilir, bu da hataların uygulama çalışmadan önce yakalanmasını sağlar.</a:t>
            </a:r>
          </a:p>
          <a:p>
            <a:pPr algn="l"/>
            <a:r>
              <a:rPr lang="tr-TR" b="1" dirty="0">
                <a:solidFill>
                  <a:schemeClr val="bg1"/>
                </a:solidFill>
              </a:rPr>
              <a:t>Çöp Toplayıcı (</a:t>
            </a:r>
            <a:r>
              <a:rPr lang="tr-TR" b="1" dirty="0" err="1">
                <a:solidFill>
                  <a:schemeClr val="bg1"/>
                </a:solidFill>
              </a:rPr>
              <a:t>Garbage</a:t>
            </a:r>
            <a:r>
              <a:rPr lang="tr-TR" b="1" dirty="0">
                <a:solidFill>
                  <a:schemeClr val="bg1"/>
                </a:solidFill>
              </a:rPr>
              <a:t> </a:t>
            </a:r>
            <a:r>
              <a:rPr lang="tr-TR" b="1" dirty="0" err="1">
                <a:solidFill>
                  <a:schemeClr val="bg1"/>
                </a:solidFill>
              </a:rPr>
              <a:t>Collector</a:t>
            </a:r>
            <a:r>
              <a:rPr lang="tr-TR" b="1" dirty="0">
                <a:solidFill>
                  <a:schemeClr val="bg1"/>
                </a:solidFill>
              </a:rPr>
              <a:t>):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/>
              <a:t>Bellek yönetimini otomatik yaparak yazılımcıyı yükten kurtarır.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6783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72F877-0A4B-C69B-4D68-1239BFB91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623971"/>
            <a:ext cx="8991600" cy="641591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Go</a:t>
            </a:r>
            <a:r>
              <a:rPr lang="tr-TR" dirty="0"/>
              <a:t> nerede kullanılır ?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C4A2C4A-9377-2000-67E0-9DCB1DD20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199" y="1265561"/>
            <a:ext cx="8991599" cy="4859935"/>
          </a:xfrm>
        </p:spPr>
        <p:txBody>
          <a:bodyPr/>
          <a:lstStyle/>
          <a:p>
            <a:pPr algn="l"/>
            <a:r>
              <a:rPr lang="tr-TR" dirty="0" err="1"/>
              <a:t>Go</a:t>
            </a:r>
            <a:r>
              <a:rPr lang="tr-TR" dirty="0"/>
              <a:t>, özellikle yüksek trafikli ve ölçeklenebilir sistemler için tercih edilir:</a:t>
            </a:r>
          </a:p>
          <a:p>
            <a:pPr algn="l"/>
            <a:r>
              <a:rPr lang="tr-TR" b="1" dirty="0">
                <a:solidFill>
                  <a:schemeClr val="bg1"/>
                </a:solidFill>
              </a:rPr>
              <a:t>Bulut ve Altyapı: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/>
              <a:t>Docker</a:t>
            </a:r>
            <a:r>
              <a:rPr lang="tr-TR" dirty="0"/>
              <a:t>, </a:t>
            </a:r>
            <a:r>
              <a:rPr lang="tr-TR" dirty="0" err="1"/>
              <a:t>Kubernetes</a:t>
            </a:r>
            <a:r>
              <a:rPr lang="tr-TR" dirty="0"/>
              <a:t> ve </a:t>
            </a:r>
            <a:r>
              <a:rPr lang="tr-TR" dirty="0" err="1"/>
              <a:t>Terraform</a:t>
            </a:r>
            <a:r>
              <a:rPr lang="tr-TR" dirty="0"/>
              <a:t> gibi devasa projeler </a:t>
            </a:r>
            <a:r>
              <a:rPr lang="tr-TR" dirty="0" err="1"/>
              <a:t>Go</a:t>
            </a:r>
            <a:r>
              <a:rPr lang="tr-TR" dirty="0"/>
              <a:t> ile yazılmıştır.</a:t>
            </a:r>
          </a:p>
          <a:p>
            <a:pPr algn="l"/>
            <a:r>
              <a:rPr lang="tr-TR" b="1" dirty="0" err="1">
                <a:solidFill>
                  <a:schemeClr val="bg1"/>
                </a:solidFill>
              </a:rPr>
              <a:t>Mikroservisler</a:t>
            </a:r>
            <a:r>
              <a:rPr lang="tr-TR" b="1" dirty="0">
                <a:solidFill>
                  <a:schemeClr val="bg1"/>
                </a:solidFill>
              </a:rPr>
              <a:t>: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/>
              <a:t>Hızlı ve hafif olması nedeniyle modern </a:t>
            </a:r>
            <a:r>
              <a:rPr lang="tr-TR" dirty="0" err="1"/>
              <a:t>mikroservis</a:t>
            </a:r>
            <a:r>
              <a:rPr lang="tr-TR" dirty="0"/>
              <a:t> mimarilerinin vazgeçilmezidir.</a:t>
            </a:r>
          </a:p>
          <a:p>
            <a:pPr algn="l"/>
            <a:r>
              <a:rPr lang="tr-TR" b="1" dirty="0" err="1">
                <a:solidFill>
                  <a:schemeClr val="bg1"/>
                </a:solidFill>
              </a:rPr>
              <a:t>Backend</a:t>
            </a:r>
            <a:r>
              <a:rPr lang="tr-TR" b="1" dirty="0">
                <a:solidFill>
                  <a:schemeClr val="bg1"/>
                </a:solidFill>
              </a:rPr>
              <a:t> Geliştirme: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/>
              <a:t>Yüksek performanslı web sunucuları ve </a:t>
            </a:r>
            <a:r>
              <a:rPr lang="tr-TR" dirty="0" err="1"/>
              <a:t>API'ler</a:t>
            </a:r>
            <a:r>
              <a:rPr lang="tr-TR" dirty="0"/>
              <a:t> oluşturmak için kullanılır.</a:t>
            </a:r>
          </a:p>
          <a:p>
            <a:pPr algn="l"/>
            <a:r>
              <a:rPr lang="tr-TR" b="1" dirty="0">
                <a:solidFill>
                  <a:schemeClr val="bg1"/>
                </a:solidFill>
              </a:rPr>
              <a:t>Veri İşleme: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/>
              <a:t>Hızlı veri transferi ve işleme süreçlerinde tercih edilir.</a:t>
            </a:r>
          </a:p>
          <a:p>
            <a:pPr algn="l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15902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99BE26B-F53E-ED75-0378-71EC94A24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90707"/>
            <a:ext cx="8991600" cy="749746"/>
          </a:xfrm>
        </p:spPr>
        <p:txBody>
          <a:bodyPr>
            <a:normAutofit fontScale="90000"/>
          </a:bodyPr>
          <a:lstStyle/>
          <a:p>
            <a:r>
              <a:rPr lang="tr-TR" dirty="0" err="1"/>
              <a:t>Go</a:t>
            </a:r>
            <a:r>
              <a:rPr lang="tr-TR" dirty="0"/>
              <a:t>(</a:t>
            </a:r>
            <a:r>
              <a:rPr lang="tr-TR" dirty="0" err="1"/>
              <a:t>golang</a:t>
            </a:r>
            <a:r>
              <a:rPr lang="tr-TR" dirty="0"/>
              <a:t>) avantajları: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42DC9C6-9695-2F62-747C-F596DE123D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8002" y="2014609"/>
            <a:ext cx="1089599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Yüksek Performans ve Hız: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derlenen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bir dil olduğu için makine koduna doğrudan erişir.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da hem derleme aşamasının hem de uygulamanın çalışma süresinin çok hızlı olmasını sağlar.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Zengin Standart Kütüphane: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Dışarıdan çok fazla paket yüklemeye gerek kalmadan; ağ programlama,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kriptografi ve veri işleme gibi birçok işlemi kendi içindeki güçlü kütüphanelerle yapabilir.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Kolay Bağımlılık Yönetimi: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sistemi sayesinde projenizde kullandığınız dış paketlerin</a:t>
            </a:r>
            <a:endParaRPr lang="tr-TR" altLang="tr-T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yönetimi ve versiyon takibi oldukça basittir.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Kolay Dağıtım (Deployment):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yazdığınız kodu tüm bağımlılıklarıyla birlikte tek bir "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(çalıştırılabilir) dosya haline getirir. Hedef sunucuda ek bir kurulum yapmadan bu tek dosyayı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çalıştırmanız yeterlidir.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Üstün Eşzamanlılık (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Concurrency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Goroutine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yapısı sayesinde binlerce işlemi aynı anda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çok düşük bellek tüketimiyle yönetebilir.</a:t>
            </a:r>
          </a:p>
        </p:txBody>
      </p:sp>
    </p:spTree>
    <p:extLst>
      <p:ext uri="{BB962C8B-B14F-4D97-AF65-F5344CB8AC3E}">
        <p14:creationId xmlns:p14="http://schemas.microsoft.com/office/powerpoint/2010/main" val="340537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DC59069-41A0-9792-E19A-619089751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510371"/>
            <a:ext cx="8991600" cy="730082"/>
          </a:xfrm>
        </p:spPr>
        <p:txBody>
          <a:bodyPr>
            <a:normAutofit fontScale="90000"/>
          </a:bodyPr>
          <a:lstStyle/>
          <a:p>
            <a:r>
              <a:rPr lang="tr-TR" dirty="0"/>
              <a:t>dezavantajları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DE35B9-4289-C6F0-BE45-220A1DB67E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8302" y="1909036"/>
            <a:ext cx="1057539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Generic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Desteği: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Go'ya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Generic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(genel türler) özelliği diğer dillere kıyasla çok geç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eklenmiştir. Bu durum, eski kodlarda veya bazı karmaşık veri yapılarında yazımı biraz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daha zorlaştırabilir.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Farklı OOP Yaklaşımı: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alışılagelmiş "Sınıf (Class)" ve "Kalıtım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Inheritance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)" tabanlı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Nesne Yönelimli Programlama yapısını kullanmaz. Bu durum, Java veya C# gibi dillerden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gelenler için bir alışma süreci gerektirir.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GUI Sınırlamaları: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daha çok sunucu tarafı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ve sistem programlama için tasarlanmıştır.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nedenle masaüstü görsel (GUI) uygulamaları geliştirmek için diğer diller kadar geniş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 araç yelpazesine sahip değildir.</a:t>
            </a:r>
          </a:p>
        </p:txBody>
      </p:sp>
    </p:spTree>
    <p:extLst>
      <p:ext uri="{BB962C8B-B14F-4D97-AF65-F5344CB8AC3E}">
        <p14:creationId xmlns:p14="http://schemas.microsoft.com/office/powerpoint/2010/main" val="117636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C0B995-FD41-956C-4972-113302D4A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523" y="226142"/>
            <a:ext cx="4494998" cy="658761"/>
          </a:xfrm>
        </p:spPr>
        <p:txBody>
          <a:bodyPr/>
          <a:lstStyle/>
          <a:p>
            <a:r>
              <a:rPr lang="tr-TR" dirty="0" err="1"/>
              <a:t>Golangın</a:t>
            </a:r>
            <a:r>
              <a:rPr lang="tr-TR" dirty="0"/>
              <a:t> basitliği:</a:t>
            </a:r>
          </a:p>
        </p:txBody>
      </p:sp>
      <p:pic>
        <p:nvPicPr>
          <p:cNvPr id="6" name="Resim Yer Tutucusu 5" descr="metin, ekran görüntüsü, iş kartı, dikdörtge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CBCF75C-D0D4-D561-4BE6-9FE3F2226C4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5509" r="5509"/>
          <a:stretch>
            <a:fillRect/>
          </a:stretch>
        </p:blipFill>
        <p:spPr/>
      </p:pic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6B8CB90-696E-4AB9-681B-2876EFAFE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6406" y="1484672"/>
            <a:ext cx="4957115" cy="1406012"/>
          </a:xfrm>
        </p:spPr>
        <p:txBody>
          <a:bodyPr/>
          <a:lstStyle/>
          <a:p>
            <a:pPr algn="l"/>
            <a:r>
              <a:rPr lang="tr-TR" b="1" dirty="0">
                <a:solidFill>
                  <a:schemeClr val="tx1"/>
                </a:solidFill>
              </a:rPr>
              <a:t>Merhaba Dünya Örneği</a:t>
            </a:r>
          </a:p>
          <a:p>
            <a:pPr algn="l"/>
            <a:r>
              <a:rPr lang="tr-TR" dirty="0" err="1"/>
              <a:t>Go'nun</a:t>
            </a:r>
            <a:r>
              <a:rPr lang="tr-TR" dirty="0"/>
              <a:t> ne kadar sade olduğunu bu küçük kod parçasında görebilirsiniz: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5841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EDB445D5-7FFE-2AC2-395D-F95B1B5F0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413" y="530942"/>
            <a:ext cx="10717161" cy="5938684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Apache Kafka: </a:t>
            </a:r>
            <a:r>
              <a:rPr lang="tr-TR" dirty="0"/>
              <a:t>Apache Kafka, yüksek hacimli veriyi gerçek zamanlı olarak toplayan, saklayan ve başka sistemlere ileten dağıtık bir </a:t>
            </a:r>
            <a:r>
              <a:rPr lang="tr-TR" dirty="0" err="1"/>
              <a:t>event</a:t>
            </a:r>
            <a:r>
              <a:rPr lang="tr-TR" dirty="0"/>
              <a:t> </a:t>
            </a:r>
            <a:r>
              <a:rPr lang="tr-TR" dirty="0" err="1"/>
              <a:t>streaming</a:t>
            </a:r>
            <a:r>
              <a:rPr lang="tr-TR" dirty="0"/>
              <a:t> platformudur.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dirty="0">
                <a:solidFill>
                  <a:schemeClr val="bg1"/>
                </a:solidFill>
              </a:rPr>
              <a:t>Nerelerde kullanılır?</a:t>
            </a:r>
          </a:p>
          <a:p>
            <a:r>
              <a:rPr lang="tr-TR" dirty="0"/>
              <a:t> Gerçek zamanlı veri akışı (</a:t>
            </a:r>
            <a:r>
              <a:rPr lang="tr-TR" dirty="0" err="1"/>
              <a:t>streaming</a:t>
            </a:r>
            <a:r>
              <a:rPr lang="tr-TR" dirty="0"/>
              <a:t>)</a:t>
            </a:r>
          </a:p>
          <a:p>
            <a:r>
              <a:rPr lang="tr-TR" dirty="0"/>
              <a:t> </a:t>
            </a:r>
            <a:r>
              <a:rPr lang="tr-TR" dirty="0" err="1"/>
              <a:t>Mikroservis</a:t>
            </a:r>
            <a:r>
              <a:rPr lang="tr-TR" dirty="0"/>
              <a:t> mimarileri</a:t>
            </a:r>
          </a:p>
          <a:p>
            <a:r>
              <a:rPr lang="tr-TR" dirty="0"/>
              <a:t> E-ticaret (sipariş, ödeme, stok olayları)</a:t>
            </a:r>
          </a:p>
          <a:p>
            <a:r>
              <a:rPr lang="tr-TR" dirty="0"/>
              <a:t> Finans (işlem takibi, </a:t>
            </a:r>
            <a:r>
              <a:rPr lang="tr-TR" dirty="0" err="1"/>
              <a:t>fraud</a:t>
            </a:r>
            <a:r>
              <a:rPr lang="tr-TR" dirty="0"/>
              <a:t> </a:t>
            </a:r>
            <a:r>
              <a:rPr lang="tr-TR" dirty="0" err="1"/>
              <a:t>detection</a:t>
            </a:r>
            <a:r>
              <a:rPr lang="tr-TR" dirty="0"/>
              <a:t>)</a:t>
            </a:r>
          </a:p>
          <a:p>
            <a:r>
              <a:rPr lang="tr-TR" dirty="0"/>
              <a:t> Log ve metrik toplama</a:t>
            </a:r>
          </a:p>
          <a:p>
            <a:r>
              <a:rPr lang="tr-TR" dirty="0"/>
              <a:t> Oyun ve canlı sistemler</a:t>
            </a:r>
          </a:p>
          <a:p>
            <a:r>
              <a:rPr lang="tr-TR" dirty="0"/>
              <a:t>Büyük veri (</a:t>
            </a:r>
            <a:r>
              <a:rPr lang="tr-TR" dirty="0" err="1"/>
              <a:t>Big</a:t>
            </a:r>
            <a:r>
              <a:rPr lang="tr-TR" dirty="0"/>
              <a:t> Data) altyapıları</a:t>
            </a:r>
          </a:p>
          <a:p>
            <a:pPr algn="l"/>
            <a:endParaRPr lang="tr-TR" u="sng" dirty="0"/>
          </a:p>
          <a:p>
            <a:pPr algn="l"/>
            <a:endParaRPr lang="tr-TR" u="sng" dirty="0">
              <a:solidFill>
                <a:schemeClr val="bg1"/>
              </a:solidFill>
            </a:endParaRPr>
          </a:p>
          <a:p>
            <a:pPr algn="l"/>
            <a:endParaRPr lang="tr-TR" u="sng" dirty="0">
              <a:solidFill>
                <a:schemeClr val="bg1"/>
              </a:solidFill>
            </a:endParaRPr>
          </a:p>
          <a:p>
            <a:pPr algn="l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92153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aşlık 2">
            <a:extLst>
              <a:ext uri="{FF2B5EF4-FFF2-40B4-BE49-F238E27FC236}">
                <a16:creationId xmlns:a16="http://schemas.microsoft.com/office/drawing/2014/main" id="{FB18565F-4537-BFDD-D013-F4FEEDF28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3729" y="521109"/>
            <a:ext cx="10402529" cy="5830529"/>
          </a:xfrm>
        </p:spPr>
        <p:txBody>
          <a:bodyPr/>
          <a:lstStyle/>
          <a:p>
            <a:r>
              <a:rPr lang="tr-TR" dirty="0" err="1">
                <a:solidFill>
                  <a:schemeClr val="bg1"/>
                </a:solidFill>
              </a:rPr>
              <a:t>RabbitMQ</a:t>
            </a:r>
            <a:r>
              <a:rPr lang="tr-TR" dirty="0">
                <a:solidFill>
                  <a:schemeClr val="bg1"/>
                </a:solidFill>
              </a:rPr>
              <a:t>:  </a:t>
            </a:r>
            <a:r>
              <a:rPr lang="tr-TR" dirty="0"/>
              <a:t> uygulamalar arasında mesajlaşmayı sağlayan bir </a:t>
            </a:r>
            <a:r>
              <a:rPr lang="tr-TR" dirty="0" err="1"/>
              <a:t>message</a:t>
            </a:r>
            <a:r>
              <a:rPr lang="tr-TR" dirty="0"/>
              <a:t> </a:t>
            </a:r>
            <a:r>
              <a:rPr lang="tr-TR" dirty="0" err="1"/>
              <a:t>broker’dır</a:t>
            </a:r>
            <a:r>
              <a:rPr lang="tr-TR" dirty="0"/>
              <a:t>.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dirty="0">
                <a:solidFill>
                  <a:schemeClr val="bg1"/>
                </a:solidFill>
              </a:rPr>
              <a:t>Nerelerde kullanılır?</a:t>
            </a:r>
          </a:p>
          <a:p>
            <a:r>
              <a:rPr lang="tr-TR" dirty="0"/>
              <a:t> Asenkron işlemler (arka plan görevleri)</a:t>
            </a:r>
          </a:p>
          <a:p>
            <a:r>
              <a:rPr lang="tr-TR" dirty="0"/>
              <a:t> E-posta / SMS gönderim sistemleri</a:t>
            </a:r>
          </a:p>
          <a:p>
            <a:r>
              <a:rPr lang="tr-TR" dirty="0"/>
              <a:t> </a:t>
            </a:r>
            <a:r>
              <a:rPr lang="tr-TR" dirty="0" err="1"/>
              <a:t>Mikroservis</a:t>
            </a:r>
            <a:r>
              <a:rPr lang="tr-TR" dirty="0"/>
              <a:t> mimarileri</a:t>
            </a:r>
          </a:p>
          <a:p>
            <a:r>
              <a:rPr lang="tr-TR" dirty="0"/>
              <a:t>Sipariş ve iş kuyruğu sistemleri</a:t>
            </a:r>
          </a:p>
          <a:p>
            <a:r>
              <a:rPr lang="tr-TR" dirty="0"/>
              <a:t> Yük dengeleme</a:t>
            </a:r>
          </a:p>
          <a:p>
            <a:r>
              <a:rPr lang="tr-TR" dirty="0"/>
              <a:t> Log ve görev yönetimi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78336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1">
            <a:extLst>
              <a:ext uri="{FF2B5EF4-FFF2-40B4-BE49-F238E27FC236}">
                <a16:creationId xmlns:a16="http://schemas.microsoft.com/office/drawing/2014/main" id="{438CFBA0-5228-CE33-2586-5288732A6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2663" y="698500"/>
            <a:ext cx="10510837" cy="5289550"/>
          </a:xfrm>
        </p:spPr>
        <p:txBody>
          <a:bodyPr>
            <a:normAutofit/>
          </a:bodyPr>
          <a:lstStyle/>
          <a:p>
            <a:r>
              <a:rPr lang="tr-TR" dirty="0" err="1">
                <a:solidFill>
                  <a:schemeClr val="bg1"/>
                </a:solidFill>
              </a:rPr>
              <a:t>Playwright</a:t>
            </a:r>
            <a:r>
              <a:rPr lang="tr-TR" dirty="0">
                <a:solidFill>
                  <a:schemeClr val="bg1"/>
                </a:solidFill>
              </a:rPr>
              <a:t>: </a:t>
            </a:r>
            <a:r>
              <a:rPr lang="tr-TR" dirty="0"/>
              <a:t>Microsoft tarafından geliştirilen modern bir web otomasyon ve test </a:t>
            </a:r>
            <a:r>
              <a:rPr lang="tr-TR"/>
              <a:t>aracıdır.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dirty="0">
                <a:solidFill>
                  <a:schemeClr val="bg1"/>
                </a:solidFill>
              </a:rPr>
              <a:t>Nerelerde kullanılır?</a:t>
            </a:r>
          </a:p>
          <a:p>
            <a:r>
              <a:rPr lang="tr-TR" dirty="0"/>
              <a:t> Web testleri (E2E – uçtan uca testler)</a:t>
            </a:r>
          </a:p>
          <a:p>
            <a:r>
              <a:rPr lang="tr-TR" dirty="0"/>
              <a:t> Web otomasyonu (form doldurma, tıklama vb.)</a:t>
            </a:r>
          </a:p>
          <a:p>
            <a:r>
              <a:rPr lang="tr-TR" dirty="0"/>
              <a:t> E-ticaret site testleri</a:t>
            </a:r>
          </a:p>
          <a:p>
            <a:r>
              <a:rPr lang="tr-TR" dirty="0"/>
              <a:t>Login, ödeme, kullanıcı akışı testleri</a:t>
            </a:r>
          </a:p>
          <a:p>
            <a:r>
              <a:rPr lang="tr-TR" dirty="0"/>
              <a:t> Mobil ve </a:t>
            </a:r>
            <a:r>
              <a:rPr lang="tr-TR" dirty="0" err="1"/>
              <a:t>responsive</a:t>
            </a:r>
            <a:r>
              <a:rPr lang="tr-TR" dirty="0"/>
              <a:t> testler</a:t>
            </a:r>
          </a:p>
          <a:p>
            <a:r>
              <a:rPr lang="tr-TR" dirty="0"/>
              <a:t> Web </a:t>
            </a:r>
            <a:r>
              <a:rPr lang="tr-TR" dirty="0" err="1"/>
              <a:t>scraping</a:t>
            </a:r>
            <a:r>
              <a:rPr lang="tr-TR" dirty="0"/>
              <a:t> (etik ve yasal sınırlar içinde)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81670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A11985-4F15-AFA3-B8E6-7E6DF2E13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Bizi dinlediğiniz için teşekkür ederiz </a:t>
            </a:r>
          </a:p>
        </p:txBody>
      </p:sp>
    </p:spTree>
    <p:extLst>
      <p:ext uri="{BB962C8B-B14F-4D97-AF65-F5344CB8AC3E}">
        <p14:creationId xmlns:p14="http://schemas.microsoft.com/office/powerpoint/2010/main" val="2453170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{1DC8B069-82D5-48E4-AC82-5926867E4148}TFfb9a325e-b4a8-473d-b025-df086f5ae493d5c9ade7-a7f03c223b84</Template>
  <TotalTime>66</TotalTime>
  <Words>721</Words>
  <Application>Microsoft Office PowerPoint</Application>
  <PresentationFormat>Geniş ekran</PresentationFormat>
  <Paragraphs>77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Paket</vt:lpstr>
      <vt:lpstr>Golang</vt:lpstr>
      <vt:lpstr>GOLANG NEDİR?</vt:lpstr>
      <vt:lpstr>NEDEN GOLANG KULLANALIM ?</vt:lpstr>
      <vt:lpstr>Go nerede kullanılır ?</vt:lpstr>
      <vt:lpstr>Go(golang) avantajları:</vt:lpstr>
      <vt:lpstr>dezavantajları</vt:lpstr>
      <vt:lpstr>Golangın basitliği:</vt:lpstr>
      <vt:lpstr>PowerPoint Sunusu</vt:lpstr>
      <vt:lpstr>PowerPoint Sunusu</vt:lpstr>
      <vt:lpstr>PowerPoint Sunusu</vt:lpstr>
      <vt:lpstr>Bizi dinlediğiniz için teşekkür ederiz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Roni</dc:creator>
  <cp:lastModifiedBy>Roni</cp:lastModifiedBy>
  <cp:revision>4</cp:revision>
  <dcterms:created xsi:type="dcterms:W3CDTF">2025-12-21T12:39:42Z</dcterms:created>
  <dcterms:modified xsi:type="dcterms:W3CDTF">2025-12-23T18:24:01Z</dcterms:modified>
</cp:coreProperties>
</file>